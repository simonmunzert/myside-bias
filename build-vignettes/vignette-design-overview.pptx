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</p:sldIdLst>
  <p:sldSz cx="12192000" cy="9197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1"/>
    <p:restoredTop sz="94602"/>
  </p:normalViewPr>
  <p:slideViewPr>
    <p:cSldViewPr snapToGrid="0">
      <p:cViewPr>
        <p:scale>
          <a:sx n="145" d="100"/>
          <a:sy n="145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05317"/>
            <a:ext cx="10363200" cy="3202258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31067"/>
            <a:ext cx="9144000" cy="222071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0293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457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93109"/>
            <a:ext cx="10515600" cy="38261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55407"/>
            <a:ext cx="10515600" cy="201205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646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48535"/>
            <a:ext cx="5181600" cy="58360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48535"/>
            <a:ext cx="5181600" cy="58360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7900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9709"/>
            <a:ext cx="10515600" cy="17778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54782"/>
            <a:ext cx="5157787" cy="110503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59816"/>
            <a:ext cx="5157787" cy="49417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54782"/>
            <a:ext cx="5183188" cy="110503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59816"/>
            <a:ext cx="5183188" cy="49417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045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1042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0692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13198"/>
            <a:ext cx="3932237" cy="214619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24340"/>
            <a:ext cx="6172200" cy="6536524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59392"/>
            <a:ext cx="3932237" cy="511211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745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13198"/>
            <a:ext cx="3932237" cy="214619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24340"/>
            <a:ext cx="6172200" cy="653652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59392"/>
            <a:ext cx="3932237" cy="511211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33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5107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9707"/>
            <a:ext cx="2628900" cy="77948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9707"/>
            <a:ext cx="7734300" cy="77948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463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9709"/>
            <a:ext cx="10515600" cy="1777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48535"/>
            <a:ext cx="10515600" cy="5836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525162"/>
            <a:ext cx="2743200" cy="489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8B5BC-AB97-754A-8E96-241AE09C1684}" type="datetimeFigureOut">
              <a:rPr lang="en-DE" smtClean="0"/>
              <a:t>04.12.25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525162"/>
            <a:ext cx="4114800" cy="489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525162"/>
            <a:ext cx="2743200" cy="489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E1862-9B90-8443-838D-F8F87F2581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692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69ABA7-C205-5B9C-E7C5-0A4E443F7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342602"/>
              </p:ext>
            </p:extLst>
          </p:nvPr>
        </p:nvGraphicFramePr>
        <p:xfrm>
          <a:off x="243124" y="1394946"/>
          <a:ext cx="6169011" cy="34747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43286">
                  <a:extLst>
                    <a:ext uri="{9D8B030D-6E8A-4147-A177-3AD203B41FA5}">
                      <a16:colId xmlns:a16="http://schemas.microsoft.com/office/drawing/2014/main" val="1495223637"/>
                    </a:ext>
                  </a:extLst>
                </a:gridCol>
                <a:gridCol w="1023730">
                  <a:extLst>
                    <a:ext uri="{9D8B030D-6E8A-4147-A177-3AD203B41FA5}">
                      <a16:colId xmlns:a16="http://schemas.microsoft.com/office/drawing/2014/main" val="3875069372"/>
                    </a:ext>
                  </a:extLst>
                </a:gridCol>
                <a:gridCol w="4403386">
                  <a:extLst>
                    <a:ext uri="{9D8B030D-6E8A-4147-A177-3AD203B41FA5}">
                      <a16:colId xmlns:a16="http://schemas.microsoft.com/office/drawing/2014/main" val="2186190251"/>
                    </a:ext>
                  </a:extLst>
                </a:gridCol>
                <a:gridCol w="398609">
                  <a:extLst>
                    <a:ext uri="{9D8B030D-6E8A-4147-A177-3AD203B41FA5}">
                      <a16:colId xmlns:a16="http://schemas.microsoft.com/office/drawing/2014/main" val="302642407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1" i="0" u="none" strike="noStrike" dirty="0">
                        <a:solidFill>
                          <a:schemeClr val="bg1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b="1" u="none" strike="noStrike" dirty="0">
                          <a:solidFill>
                            <a:schemeClr val="bg1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Attributes</a:t>
                      </a:r>
                      <a:endParaRPr lang="en-GB" sz="1200" b="1" i="0" u="none" strike="noStrike" dirty="0">
                        <a:solidFill>
                          <a:schemeClr val="bg1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b="1" u="none" strike="noStrike" dirty="0">
                          <a:solidFill>
                            <a:schemeClr val="bg1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Levels</a:t>
                      </a:r>
                      <a:endParaRPr lang="en-GB" sz="1200" b="1" i="0" u="none" strike="noStrike" dirty="0">
                        <a:solidFill>
                          <a:schemeClr val="bg1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b="1" u="none" strike="noStrike" dirty="0">
                          <a:solidFill>
                            <a:schemeClr val="bg1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N</a:t>
                      </a:r>
                      <a:endParaRPr lang="en-GB" sz="1200" b="1" i="0" u="none" strike="noStrike" dirty="0">
                        <a:solidFill>
                          <a:schemeClr val="bg1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256222"/>
                  </a:ext>
                </a:extLst>
              </a:tr>
              <a:tr h="216000">
                <a:tc rowSpan="5"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Posts</a:t>
                      </a:r>
                    </a:p>
                  </a:txBody>
                  <a:tcPr marL="45720" marR="45720" vert="vert270" anchor="ctr"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Category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Opinion, Mocking, Insult, Threat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4</a:t>
                      </a:r>
                      <a:endParaRPr lang="en-DE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3204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Severity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Moderate, Extreme [Mocking: Verbal, Meme]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2</a:t>
                      </a:r>
                      <a:endParaRPr lang="en-DE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64118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Topic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SUV drivers, Veganism, Partisanship, Inequality, Police, Climate change, Racism, Free speech, Nationalism, Men's rights, Immigration, Religiosity, Homosexuality, Feminism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14</a:t>
                      </a:r>
                      <a:endParaRPr lang="en-DE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26927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Topic stance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Left, Right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2</a:t>
                      </a:r>
                      <a:endParaRPr lang="en-DE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52863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Scope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Personal, Group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2</a:t>
                      </a:r>
                      <a:endParaRPr lang="en-DE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65544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Sender/Target</a:t>
                      </a:r>
                    </a:p>
                  </a:txBody>
                  <a:tcPr marL="45720" marR="45720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Gender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Male, Female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2</a:t>
                      </a:r>
                      <a:endParaRPr lang="en-DE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23449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Ethnicity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r>
                        <a:rPr lang="en-GB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White, Non-White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r>
                        <a:rPr lang="en-DE" sz="12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82169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endParaRPr lang="en-DE" sz="1200" u="none" strike="noStrike" dirty="0"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64100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lnSpc>
                          <a:spcPct val="100000"/>
                        </a:lnSpc>
                        <a:buNone/>
                      </a:pPr>
                      <a:endParaRPr lang="en-DE" sz="1200" u="none" strike="noStrike" dirty="0"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131441"/>
                  </a:ext>
                </a:extLst>
              </a:tr>
            </a:tbl>
          </a:graphicData>
        </a:graphic>
      </p:graphicFrame>
      <p:pic>
        <p:nvPicPr>
          <p:cNvPr id="18" name="Picture 17" descr="A person with dark hair and brown eyes&#10;&#10;AI-generated content may be incorrect.">
            <a:extLst>
              <a:ext uri="{FF2B5EF4-FFF2-40B4-BE49-F238E27FC236}">
                <a16:creationId xmlns:a16="http://schemas.microsoft.com/office/drawing/2014/main" id="{1BDFE665-C320-215C-5F71-A5B496C47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134" y="4026024"/>
            <a:ext cx="360000" cy="360000"/>
          </a:xfrm>
          <a:prstGeom prst="rect">
            <a:avLst/>
          </a:prstGeom>
        </p:spPr>
      </p:pic>
      <p:pic>
        <p:nvPicPr>
          <p:cNvPr id="20" name="Picture 19" descr="A person with dark hair&#10;&#10;AI-generated content may be incorrect.">
            <a:extLst>
              <a:ext uri="{FF2B5EF4-FFF2-40B4-BE49-F238E27FC236}">
                <a16:creationId xmlns:a16="http://schemas.microsoft.com/office/drawing/2014/main" id="{64A599D6-51C6-7A82-E104-2768D60CE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625" y="4026024"/>
            <a:ext cx="360000" cy="360000"/>
          </a:xfrm>
          <a:prstGeom prst="rect">
            <a:avLst/>
          </a:prstGeom>
        </p:spPr>
      </p:pic>
      <p:pic>
        <p:nvPicPr>
          <p:cNvPr id="22" name="Picture 21" descr="A cartoon of a person&#10;&#10;AI-generated content may be incorrect.">
            <a:extLst>
              <a:ext uri="{FF2B5EF4-FFF2-40B4-BE49-F238E27FC236}">
                <a16:creationId xmlns:a16="http://schemas.microsoft.com/office/drawing/2014/main" id="{569FBE99-788C-9564-765A-A9C7A5C50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727" y="4026024"/>
            <a:ext cx="360000" cy="360000"/>
          </a:xfrm>
          <a:prstGeom prst="rect">
            <a:avLst/>
          </a:prstGeom>
        </p:spPr>
      </p:pic>
      <p:pic>
        <p:nvPicPr>
          <p:cNvPr id="24" name="Picture 23" descr="A person with dark hair and a purple shirt&#10;&#10;AI-generated content may be incorrect.">
            <a:extLst>
              <a:ext uri="{FF2B5EF4-FFF2-40B4-BE49-F238E27FC236}">
                <a16:creationId xmlns:a16="http://schemas.microsoft.com/office/drawing/2014/main" id="{A5CA4A2B-28F6-1668-E079-D20D77EFF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829" y="4018612"/>
            <a:ext cx="360000" cy="360000"/>
          </a:xfrm>
          <a:prstGeom prst="rect">
            <a:avLst/>
          </a:prstGeom>
        </p:spPr>
      </p:pic>
      <p:pic>
        <p:nvPicPr>
          <p:cNvPr id="26" name="Picture 25" descr="A cartoon of a person with short black hair&#10;&#10;AI-generated content may be incorrect.">
            <a:extLst>
              <a:ext uri="{FF2B5EF4-FFF2-40B4-BE49-F238E27FC236}">
                <a16:creationId xmlns:a16="http://schemas.microsoft.com/office/drawing/2014/main" id="{B826E1B1-F38C-18BE-FC91-8BC51F91F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2339" y="4018612"/>
            <a:ext cx="360000" cy="360000"/>
          </a:xfrm>
          <a:prstGeom prst="rect">
            <a:avLst/>
          </a:prstGeom>
        </p:spPr>
      </p:pic>
      <p:pic>
        <p:nvPicPr>
          <p:cNvPr id="28" name="Picture 27" descr="A cartoon of a person&#10;&#10;AI-generated content may be incorrect.">
            <a:extLst>
              <a:ext uri="{FF2B5EF4-FFF2-40B4-BE49-F238E27FC236}">
                <a16:creationId xmlns:a16="http://schemas.microsoft.com/office/drawing/2014/main" id="{C2E42981-4D39-D42F-3BD2-98EB539D13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0441" y="4018612"/>
            <a:ext cx="360000" cy="360000"/>
          </a:xfrm>
          <a:prstGeom prst="rect">
            <a:avLst/>
          </a:prstGeom>
        </p:spPr>
      </p:pic>
      <p:pic>
        <p:nvPicPr>
          <p:cNvPr id="30" name="Picture 29" descr="A person with dark hair in a bun&#10;&#10;AI-generated content may be incorrect.">
            <a:extLst>
              <a:ext uri="{FF2B5EF4-FFF2-40B4-BE49-F238E27FC236}">
                <a16:creationId xmlns:a16="http://schemas.microsoft.com/office/drawing/2014/main" id="{3D85CA56-F1BD-EADF-6141-8E912243EB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931" y="4033436"/>
            <a:ext cx="360000" cy="360000"/>
          </a:xfrm>
          <a:prstGeom prst="rect">
            <a:avLst/>
          </a:prstGeom>
        </p:spPr>
      </p:pic>
      <p:pic>
        <p:nvPicPr>
          <p:cNvPr id="32" name="Picture 31" descr="A cartoon of a person with brown hair&#10;&#10;AI-generated content may be incorrect.">
            <a:extLst>
              <a:ext uri="{FF2B5EF4-FFF2-40B4-BE49-F238E27FC236}">
                <a16:creationId xmlns:a16="http://schemas.microsoft.com/office/drawing/2014/main" id="{7DB4B2D0-9C34-098B-E315-1363606DCE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8033" y="4026024"/>
            <a:ext cx="360000" cy="360000"/>
          </a:xfrm>
          <a:prstGeom prst="rect">
            <a:avLst/>
          </a:prstGeom>
        </p:spPr>
      </p:pic>
      <p:pic>
        <p:nvPicPr>
          <p:cNvPr id="34" name="Picture 33" descr="A person with curly hair and a red shirt&#10;&#10;AI-generated content may be incorrect.">
            <a:extLst>
              <a:ext uri="{FF2B5EF4-FFF2-40B4-BE49-F238E27FC236}">
                <a16:creationId xmlns:a16="http://schemas.microsoft.com/office/drawing/2014/main" id="{7FD8514E-0AE7-BDA5-72D5-33F363E022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6135" y="4026024"/>
            <a:ext cx="360000" cy="360000"/>
          </a:xfrm>
          <a:prstGeom prst="rect">
            <a:avLst/>
          </a:prstGeom>
        </p:spPr>
      </p:pic>
      <p:pic>
        <p:nvPicPr>
          <p:cNvPr id="36" name="Picture 35" descr="A cartoon of a person&#10;&#10;AI-generated content may be incorrect.">
            <a:extLst>
              <a:ext uri="{FF2B5EF4-FFF2-40B4-BE49-F238E27FC236}">
                <a16:creationId xmlns:a16="http://schemas.microsoft.com/office/drawing/2014/main" id="{82F89632-C14B-8B56-A647-9E892DA40F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4237" y="4026024"/>
            <a:ext cx="360000" cy="360000"/>
          </a:xfrm>
          <a:prstGeom prst="rect">
            <a:avLst/>
          </a:prstGeom>
        </p:spPr>
      </p:pic>
      <p:pic>
        <p:nvPicPr>
          <p:cNvPr id="38" name="Picture 37" descr="A person with blonde hair and blue eyes&#10;&#10;AI-generated content may be incorrect.">
            <a:extLst>
              <a:ext uri="{FF2B5EF4-FFF2-40B4-BE49-F238E27FC236}">
                <a16:creationId xmlns:a16="http://schemas.microsoft.com/office/drawing/2014/main" id="{DCAAE5C1-8FD8-D402-B182-28EEF415F7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8543" y="4018612"/>
            <a:ext cx="360000" cy="360000"/>
          </a:xfrm>
          <a:prstGeom prst="rect">
            <a:avLst/>
          </a:prstGeom>
        </p:spPr>
      </p:pic>
      <p:pic>
        <p:nvPicPr>
          <p:cNvPr id="40" name="Picture 39" descr="A cartoon of a person&#10;&#10;AI-generated content may be incorrect.">
            <a:extLst>
              <a:ext uri="{FF2B5EF4-FFF2-40B4-BE49-F238E27FC236}">
                <a16:creationId xmlns:a16="http://schemas.microsoft.com/office/drawing/2014/main" id="{1181B285-FFA5-1F0E-2425-C8B323398C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6645" y="4018612"/>
            <a:ext cx="360000" cy="360000"/>
          </a:xfrm>
          <a:prstGeom prst="rect">
            <a:avLst/>
          </a:prstGeom>
        </p:spPr>
      </p:pic>
      <p:pic>
        <p:nvPicPr>
          <p:cNvPr id="42" name="Picture 41" descr="A person with dark hair and brown eyes&#10;&#10;AI-generated content may be incorrect.">
            <a:extLst>
              <a:ext uri="{FF2B5EF4-FFF2-40B4-BE49-F238E27FC236}">
                <a16:creationId xmlns:a16="http://schemas.microsoft.com/office/drawing/2014/main" id="{7408E057-9960-E625-BC62-7940B56C9A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27523" y="4441756"/>
            <a:ext cx="360000" cy="360000"/>
          </a:xfrm>
          <a:prstGeom prst="rect">
            <a:avLst/>
          </a:prstGeom>
        </p:spPr>
      </p:pic>
      <p:pic>
        <p:nvPicPr>
          <p:cNvPr id="44" name="Picture 43" descr="A person with a beard&#10;&#10;AI-generated content may be incorrect.">
            <a:extLst>
              <a:ext uri="{FF2B5EF4-FFF2-40B4-BE49-F238E27FC236}">
                <a16:creationId xmlns:a16="http://schemas.microsoft.com/office/drawing/2014/main" id="{DCF62052-2C2A-FE9B-D0A3-45DE1A0E5B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5625" y="4441756"/>
            <a:ext cx="360000" cy="360000"/>
          </a:xfrm>
          <a:prstGeom prst="rect">
            <a:avLst/>
          </a:prstGeom>
        </p:spPr>
      </p:pic>
      <p:pic>
        <p:nvPicPr>
          <p:cNvPr id="46" name="Picture 45" descr="A person with braided hair&#10;&#10;AI-generated content may be incorrect.">
            <a:extLst>
              <a:ext uri="{FF2B5EF4-FFF2-40B4-BE49-F238E27FC236}">
                <a16:creationId xmlns:a16="http://schemas.microsoft.com/office/drawing/2014/main" id="{93C33DAB-A2BF-C898-B58B-79B1CA6ABB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23727" y="4434344"/>
            <a:ext cx="360000" cy="360000"/>
          </a:xfrm>
          <a:prstGeom prst="rect">
            <a:avLst/>
          </a:prstGeom>
        </p:spPr>
      </p:pic>
      <p:pic>
        <p:nvPicPr>
          <p:cNvPr id="48" name="Picture 47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B89A81AC-F7BF-9632-36F2-2B197C37729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1829" y="4434344"/>
            <a:ext cx="360000" cy="360000"/>
          </a:xfrm>
          <a:prstGeom prst="rect">
            <a:avLst/>
          </a:prstGeom>
        </p:spPr>
      </p:pic>
      <p:pic>
        <p:nvPicPr>
          <p:cNvPr id="50" name="Picture 49" descr="A cartoon of a person&#10;&#10;AI-generated content may be incorrect.">
            <a:extLst>
              <a:ext uri="{FF2B5EF4-FFF2-40B4-BE49-F238E27FC236}">
                <a16:creationId xmlns:a16="http://schemas.microsoft.com/office/drawing/2014/main" id="{1A364C22-D5A6-B8E6-88BA-B906E8462DE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12339" y="4426932"/>
            <a:ext cx="360000" cy="360000"/>
          </a:xfrm>
          <a:prstGeom prst="rect">
            <a:avLst/>
          </a:prstGeom>
        </p:spPr>
      </p:pic>
      <p:pic>
        <p:nvPicPr>
          <p:cNvPr id="52" name="Picture 51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08EA3DFD-28C2-C5FB-687A-D1D8C492DA2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10441" y="4426932"/>
            <a:ext cx="360000" cy="360000"/>
          </a:xfrm>
          <a:prstGeom prst="rect">
            <a:avLst/>
          </a:prstGeom>
        </p:spPr>
      </p:pic>
      <p:pic>
        <p:nvPicPr>
          <p:cNvPr id="54" name="Picture 53" descr="A cartoon of a person&#10;&#10;AI-generated content may be incorrect.">
            <a:extLst>
              <a:ext uri="{FF2B5EF4-FFF2-40B4-BE49-F238E27FC236}">
                <a16:creationId xmlns:a16="http://schemas.microsoft.com/office/drawing/2014/main" id="{0CC43C14-BCE6-4999-4080-45DB976005B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931" y="4441756"/>
            <a:ext cx="360000" cy="360000"/>
          </a:xfrm>
          <a:prstGeom prst="rect">
            <a:avLst/>
          </a:prstGeom>
        </p:spPr>
      </p:pic>
      <p:pic>
        <p:nvPicPr>
          <p:cNvPr id="56" name="Picture 55" descr="A person with a beard&#10;&#10;AI-generated content may be incorrect.">
            <a:extLst>
              <a:ext uri="{FF2B5EF4-FFF2-40B4-BE49-F238E27FC236}">
                <a16:creationId xmlns:a16="http://schemas.microsoft.com/office/drawing/2014/main" id="{11A915EA-4DA3-1752-930A-D59E31496B9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18033" y="4446001"/>
            <a:ext cx="360000" cy="360000"/>
          </a:xfrm>
          <a:prstGeom prst="rect">
            <a:avLst/>
          </a:prstGeom>
        </p:spPr>
      </p:pic>
      <p:pic>
        <p:nvPicPr>
          <p:cNvPr id="58" name="Picture 57" descr="A person with dark hair and a purple shirt&#10;&#10;AI-generated content may be incorrect.">
            <a:extLst>
              <a:ext uri="{FF2B5EF4-FFF2-40B4-BE49-F238E27FC236}">
                <a16:creationId xmlns:a16="http://schemas.microsoft.com/office/drawing/2014/main" id="{4F8DC59C-A8A0-6135-C10E-2141C794381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16135" y="4446001"/>
            <a:ext cx="360000" cy="360000"/>
          </a:xfrm>
          <a:prstGeom prst="rect">
            <a:avLst/>
          </a:prstGeom>
        </p:spPr>
      </p:pic>
      <p:pic>
        <p:nvPicPr>
          <p:cNvPr id="60" name="Picture 59" descr="A person with a beard&#10;&#10;AI-generated content may be incorrect.">
            <a:extLst>
              <a:ext uri="{FF2B5EF4-FFF2-40B4-BE49-F238E27FC236}">
                <a16:creationId xmlns:a16="http://schemas.microsoft.com/office/drawing/2014/main" id="{35C30C6C-236E-8199-A227-00A1BF5F1B0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14237" y="4446001"/>
            <a:ext cx="360000" cy="360000"/>
          </a:xfrm>
          <a:prstGeom prst="rect">
            <a:avLst/>
          </a:prstGeom>
        </p:spPr>
      </p:pic>
      <p:pic>
        <p:nvPicPr>
          <p:cNvPr id="62" name="Picture 61" descr="A cartoon of a child&#10;&#10;AI-generated content may be incorrect.">
            <a:extLst>
              <a:ext uri="{FF2B5EF4-FFF2-40B4-BE49-F238E27FC236}">
                <a16:creationId xmlns:a16="http://schemas.microsoft.com/office/drawing/2014/main" id="{84037342-25D9-F2FF-440C-31599C66E16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08543" y="4438589"/>
            <a:ext cx="360000" cy="360000"/>
          </a:xfrm>
          <a:prstGeom prst="rect">
            <a:avLst/>
          </a:prstGeom>
        </p:spPr>
      </p:pic>
      <p:pic>
        <p:nvPicPr>
          <p:cNvPr id="64" name="Picture 63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4F0AA1F2-99CE-696E-1D13-4A5021B8CDC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06645" y="443434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4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8F68-59E8-CA93-3556-2D4DD3D8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person sitting in a chair with his hand over his face&#10;&#10;AI-generated content may be incorrect.">
            <a:extLst>
              <a:ext uri="{FF2B5EF4-FFF2-40B4-BE49-F238E27FC236}">
                <a16:creationId xmlns:a16="http://schemas.microsoft.com/office/drawing/2014/main" id="{5EAA7D5E-B8A2-B17C-C5D7-918B582C4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8" y="5324766"/>
            <a:ext cx="5130800" cy="3365500"/>
          </a:xfrm>
          <a:prstGeom prst="rect">
            <a:avLst/>
          </a:prstGeom>
        </p:spPr>
      </p:pic>
      <p:pic>
        <p:nvPicPr>
          <p:cNvPr id="3" name="Picture 2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72D215BB-F70B-51E4-95A5-FE8A8831D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8" y="109806"/>
            <a:ext cx="5130800" cy="1651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22C0F1-8DD9-2255-B767-A24CB521B4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097905"/>
              </p:ext>
            </p:extLst>
          </p:nvPr>
        </p:nvGraphicFramePr>
        <p:xfrm>
          <a:off x="5403002" y="224042"/>
          <a:ext cx="2112580" cy="1463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7463">
                  <a:extLst>
                    <a:ext uri="{9D8B030D-6E8A-4147-A177-3AD203B41FA5}">
                      <a16:colId xmlns:a16="http://schemas.microsoft.com/office/drawing/2014/main" val="2454397142"/>
                    </a:ext>
                  </a:extLst>
                </a:gridCol>
                <a:gridCol w="1135117">
                  <a:extLst>
                    <a:ext uri="{9D8B030D-6E8A-4147-A177-3AD203B41FA5}">
                      <a16:colId xmlns:a16="http://schemas.microsoft.com/office/drawing/2014/main" val="2228934898"/>
                    </a:ext>
                  </a:extLst>
                </a:gridCol>
              </a:tblGrid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Attribute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Level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57169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Category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Opinion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0230075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Severity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Extreme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580869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Immigration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54100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 stance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Right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76941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Scope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Group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29636"/>
                  </a:ext>
                </a:extLst>
              </a:tr>
            </a:tbl>
          </a:graphicData>
        </a:graphic>
      </p:graphicFrame>
      <p:pic>
        <p:nvPicPr>
          <p:cNvPr id="8" name="Picture 7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408832D2-D27B-3422-9243-A991FB7D3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38" y="1834804"/>
            <a:ext cx="5130800" cy="1651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346469-AF40-E198-86C1-7AB42DE19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0550926"/>
              </p:ext>
            </p:extLst>
          </p:nvPr>
        </p:nvGraphicFramePr>
        <p:xfrm>
          <a:off x="5403002" y="1933800"/>
          <a:ext cx="2112580" cy="1463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7463">
                  <a:extLst>
                    <a:ext uri="{9D8B030D-6E8A-4147-A177-3AD203B41FA5}">
                      <a16:colId xmlns:a16="http://schemas.microsoft.com/office/drawing/2014/main" val="2454397142"/>
                    </a:ext>
                  </a:extLst>
                </a:gridCol>
                <a:gridCol w="1135117">
                  <a:extLst>
                    <a:ext uri="{9D8B030D-6E8A-4147-A177-3AD203B41FA5}">
                      <a16:colId xmlns:a16="http://schemas.microsoft.com/office/drawing/2014/main" val="2228934898"/>
                    </a:ext>
                  </a:extLst>
                </a:gridCol>
              </a:tblGrid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Attribute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Level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57169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Category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Insult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0230075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Severity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Moderate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580869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Immigration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54100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 stance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Left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76941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Scope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Group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2963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34D673-96D9-26E5-71CB-A471B39FEA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1182051"/>
              </p:ext>
            </p:extLst>
          </p:nvPr>
        </p:nvGraphicFramePr>
        <p:xfrm>
          <a:off x="5403002" y="3673765"/>
          <a:ext cx="2112580" cy="1463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7463">
                  <a:extLst>
                    <a:ext uri="{9D8B030D-6E8A-4147-A177-3AD203B41FA5}">
                      <a16:colId xmlns:a16="http://schemas.microsoft.com/office/drawing/2014/main" val="2454397142"/>
                    </a:ext>
                  </a:extLst>
                </a:gridCol>
                <a:gridCol w="1135117">
                  <a:extLst>
                    <a:ext uri="{9D8B030D-6E8A-4147-A177-3AD203B41FA5}">
                      <a16:colId xmlns:a16="http://schemas.microsoft.com/office/drawing/2014/main" val="2228934898"/>
                    </a:ext>
                  </a:extLst>
                </a:gridCol>
              </a:tblGrid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Attribute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Level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57169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Category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Threat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0230075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Severity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Moderate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580869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Immigration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54100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 stance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Right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76941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Scope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Personal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29636"/>
                  </a:ext>
                </a:extLst>
              </a:tr>
            </a:tbl>
          </a:graphicData>
        </a:graphic>
      </p:graphicFrame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195EE125-9893-59AC-8E98-76DC057BB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38" y="3579785"/>
            <a:ext cx="5130800" cy="1651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7A38852-D124-829D-0035-C0CED1420EBD}"/>
              </a:ext>
            </a:extLst>
          </p:cNvPr>
          <p:cNvGrpSpPr>
            <a:grpSpLocks/>
          </p:cNvGrpSpPr>
          <p:nvPr/>
        </p:nvGrpSpPr>
        <p:grpSpPr>
          <a:xfrm>
            <a:off x="4710818" y="224042"/>
            <a:ext cx="634467" cy="1463040"/>
            <a:chOff x="4800600" y="384440"/>
            <a:chExt cx="634467" cy="146304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CE17A8-C92B-A730-D2EC-0B96FAC1A2DF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4800600" y="1115960"/>
              <a:ext cx="586741" cy="3699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Left Bracket 19">
              <a:extLst>
                <a:ext uri="{FF2B5EF4-FFF2-40B4-BE49-F238E27FC236}">
                  <a16:creationId xmlns:a16="http://schemas.microsoft.com/office/drawing/2014/main" id="{D89139D1-7B9F-2BB4-6607-242445C93CDC}"/>
                </a:ext>
              </a:extLst>
            </p:cNvPr>
            <p:cNvSpPr>
              <a:spLocks/>
            </p:cNvSpPr>
            <p:nvPr/>
          </p:nvSpPr>
          <p:spPr>
            <a:xfrm>
              <a:off x="5387341" y="384440"/>
              <a:ext cx="47726" cy="1463040"/>
            </a:xfrm>
            <a:prstGeom prst="leftBracket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64D76E-FA7F-0960-D9F6-229298047146}"/>
              </a:ext>
            </a:extLst>
          </p:cNvPr>
          <p:cNvGrpSpPr>
            <a:grpSpLocks/>
          </p:cNvGrpSpPr>
          <p:nvPr/>
        </p:nvGrpSpPr>
        <p:grpSpPr>
          <a:xfrm>
            <a:off x="4705205" y="1928784"/>
            <a:ext cx="634467" cy="1463040"/>
            <a:chOff x="4800600" y="384440"/>
            <a:chExt cx="634467" cy="146304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A7026E-1F4F-A04B-0D9C-80CDC58E9EF1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4800600" y="1115960"/>
              <a:ext cx="586741" cy="3699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Left Bracket 24">
              <a:extLst>
                <a:ext uri="{FF2B5EF4-FFF2-40B4-BE49-F238E27FC236}">
                  <a16:creationId xmlns:a16="http://schemas.microsoft.com/office/drawing/2014/main" id="{8AFFFEBD-CCE9-A396-02C3-A7EDDE85D09C}"/>
                </a:ext>
              </a:extLst>
            </p:cNvPr>
            <p:cNvSpPr>
              <a:spLocks/>
            </p:cNvSpPr>
            <p:nvPr/>
          </p:nvSpPr>
          <p:spPr>
            <a:xfrm>
              <a:off x="5387341" y="384440"/>
              <a:ext cx="47726" cy="1463040"/>
            </a:xfrm>
            <a:prstGeom prst="leftBracket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3CCC27-2D3C-6DA3-6065-55F65AFA335D}"/>
              </a:ext>
            </a:extLst>
          </p:cNvPr>
          <p:cNvGrpSpPr>
            <a:grpSpLocks/>
          </p:cNvGrpSpPr>
          <p:nvPr/>
        </p:nvGrpSpPr>
        <p:grpSpPr>
          <a:xfrm>
            <a:off x="4693979" y="3673765"/>
            <a:ext cx="634467" cy="1463040"/>
            <a:chOff x="4800600" y="384440"/>
            <a:chExt cx="634467" cy="146304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5684A8-6E20-CB03-3251-EE542EA74230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4800600" y="1115960"/>
              <a:ext cx="586741" cy="3699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Left Bracket 27">
              <a:extLst>
                <a:ext uri="{FF2B5EF4-FFF2-40B4-BE49-F238E27FC236}">
                  <a16:creationId xmlns:a16="http://schemas.microsoft.com/office/drawing/2014/main" id="{6F51EA55-4D01-800C-4511-443180DD3E93}"/>
                </a:ext>
              </a:extLst>
            </p:cNvPr>
            <p:cNvSpPr>
              <a:spLocks/>
            </p:cNvSpPr>
            <p:nvPr/>
          </p:nvSpPr>
          <p:spPr>
            <a:xfrm>
              <a:off x="5387341" y="384440"/>
              <a:ext cx="47726" cy="1463040"/>
            </a:xfrm>
            <a:prstGeom prst="leftBracket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176E4C2-0B16-E444-13AE-FBD395DC8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240677"/>
              </p:ext>
            </p:extLst>
          </p:nvPr>
        </p:nvGraphicFramePr>
        <p:xfrm>
          <a:off x="5403002" y="5459357"/>
          <a:ext cx="2112580" cy="1463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7463">
                  <a:extLst>
                    <a:ext uri="{9D8B030D-6E8A-4147-A177-3AD203B41FA5}">
                      <a16:colId xmlns:a16="http://schemas.microsoft.com/office/drawing/2014/main" val="2454397142"/>
                    </a:ext>
                  </a:extLst>
                </a:gridCol>
                <a:gridCol w="1135117">
                  <a:extLst>
                    <a:ext uri="{9D8B030D-6E8A-4147-A177-3AD203B41FA5}">
                      <a16:colId xmlns:a16="http://schemas.microsoft.com/office/drawing/2014/main" val="2228934898"/>
                    </a:ext>
                  </a:extLst>
                </a:gridCol>
              </a:tblGrid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Attribute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Level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57169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Category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Mocking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0230075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Severity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Meme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580869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Immigration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454100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Topic stance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Left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769411"/>
                  </a:ext>
                </a:extLst>
              </a:tr>
              <a:tr h="200256"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Scope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DE" sz="1000" dirty="0">
                          <a:latin typeface="Fira Sans" panose="020B0503050000020004" pitchFamily="34" charset="0"/>
                        </a:rPr>
                        <a:t>Group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29636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4F5F567A-B646-79EA-F851-1AF9C0B627EA}"/>
              </a:ext>
            </a:extLst>
          </p:cNvPr>
          <p:cNvGrpSpPr>
            <a:grpSpLocks/>
          </p:cNvGrpSpPr>
          <p:nvPr/>
        </p:nvGrpSpPr>
        <p:grpSpPr>
          <a:xfrm>
            <a:off x="4684440" y="5466450"/>
            <a:ext cx="634467" cy="1463040"/>
            <a:chOff x="4800600" y="384440"/>
            <a:chExt cx="634467" cy="146304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22A20B-E16D-3430-4A11-8252497A66ED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 flipV="1">
              <a:off x="4800600" y="1115960"/>
              <a:ext cx="586741" cy="3699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Left Bracket 32">
              <a:extLst>
                <a:ext uri="{FF2B5EF4-FFF2-40B4-BE49-F238E27FC236}">
                  <a16:creationId xmlns:a16="http://schemas.microsoft.com/office/drawing/2014/main" id="{28A52EB4-D9A1-EF2C-E2FB-3226E21577F8}"/>
                </a:ext>
              </a:extLst>
            </p:cNvPr>
            <p:cNvSpPr>
              <a:spLocks/>
            </p:cNvSpPr>
            <p:nvPr/>
          </p:nvSpPr>
          <p:spPr>
            <a:xfrm>
              <a:off x="5387341" y="384440"/>
              <a:ext cx="47726" cy="1463040"/>
            </a:xfrm>
            <a:prstGeom prst="leftBracket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251410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5FD-E162-D43E-9B8C-8DAC2F8B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98465E-DFAA-7489-8975-03F7D09EE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745599"/>
              </p:ext>
            </p:extLst>
          </p:nvPr>
        </p:nvGraphicFramePr>
        <p:xfrm>
          <a:off x="767909" y="2260199"/>
          <a:ext cx="10515600" cy="3708401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263184">
                  <a:extLst>
                    <a:ext uri="{9D8B030D-6E8A-4147-A177-3AD203B41FA5}">
                      <a16:colId xmlns:a16="http://schemas.microsoft.com/office/drawing/2014/main" val="750007248"/>
                    </a:ext>
                  </a:extLst>
                </a:gridCol>
                <a:gridCol w="1059093">
                  <a:extLst>
                    <a:ext uri="{9D8B030D-6E8A-4147-A177-3AD203B41FA5}">
                      <a16:colId xmlns:a16="http://schemas.microsoft.com/office/drawing/2014/main" val="4224292792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29600363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396766972"/>
                    </a:ext>
                  </a:extLst>
                </a:gridCol>
                <a:gridCol w="2922823">
                  <a:extLst>
                    <a:ext uri="{9D8B030D-6E8A-4147-A177-3AD203B41FA5}">
                      <a16:colId xmlns:a16="http://schemas.microsoft.com/office/drawing/2014/main" val="3759982851"/>
                    </a:ext>
                  </a:extLst>
                </a:gridCol>
              </a:tblGrid>
              <a:tr h="280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Message category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Message severity and rationale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Example (targeting left)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Example (targeting right)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05356"/>
                  </a:ext>
                </a:extLst>
              </a:tr>
              <a:tr h="48942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Opinion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Moderate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Social norm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We should only welcome legal immigrants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Xenophobes shouldn't be tolerated on the internet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7074251"/>
                  </a:ext>
                </a:extLst>
              </a:tr>
              <a:tr h="48942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Extreme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Law, ban, state- enforcement of some kind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The government should deport more immigrants!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Xenophobes should lose their citizenship and be thrown out of the country!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1667456"/>
                  </a:ext>
                </a:extLst>
              </a:tr>
              <a:tr h="280017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Insult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Moderate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Denigrating, dismissive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Most immigrants are uneducated.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Xenophobes are pathetic, bigoted losers. 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2847077"/>
                  </a:ext>
                </a:extLst>
              </a:tr>
              <a:tr h="280017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Extreme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Offensive, often a slur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Immigrants are dirty rats!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Xenophobes are a bunch of flag fuckers!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4043719"/>
                  </a:ext>
                </a:extLst>
              </a:tr>
              <a:tr h="56003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Threat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Moderate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Threatening or wishing some kind of physical harm, on the level of a hard punch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Immigrants should be punched in the face.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Xenophobes should be punched in the face. 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2836730"/>
                  </a:ext>
                </a:extLst>
              </a:tr>
              <a:tr h="489421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Extreme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Threatening or wishing lethal violence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Immigrants should all be exterminated like vermin!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Xenophobes should be taken out and shot!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9446794"/>
                  </a:ext>
                </a:extLst>
              </a:tr>
              <a:tr h="56003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Mocking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Moderate, verbal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Undermining the target by making fun of the message or target group, being ironic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Oh yeah, cannot imagine our society without its drug dealers. Lol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Oh yeah, people other than native Americans don't have a place here! Lol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9934551"/>
                  </a:ext>
                </a:extLst>
              </a:tr>
              <a:tr h="280017"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Moderate, meme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Mocking/making fun of the target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  <a:ea typeface="Fira Sans" panose="020B05030500000200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”Brace yourselves – Immigrants from </a:t>
                      </a:r>
                      <a:r>
                        <a:rPr lang="en-GB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sh!thole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 countries are coming”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  <a:ea typeface="Fira Sans" panose="020B0503050000020004" pitchFamily="34" charset="0"/>
                        </a:rPr>
                        <a:t>“Complains about immigrants – Gets mad when Chinese restaurant closes”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0856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8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371</Words>
  <Application>Microsoft Macintosh PowerPoint</Application>
  <PresentationFormat>Custom</PresentationFormat>
  <Paragraphs>115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Fira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10</cp:revision>
  <dcterms:created xsi:type="dcterms:W3CDTF">2025-09-05T13:57:49Z</dcterms:created>
  <dcterms:modified xsi:type="dcterms:W3CDTF">2025-12-04T16:06:39Z</dcterms:modified>
</cp:coreProperties>
</file>